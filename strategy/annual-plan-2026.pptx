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4389120"/>
            <a:ext cx="11887200" cy="24688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RAMCO LOGISTICS SOFTWARE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Marketing Plan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 TCV Pipeline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$110K Budget  ·  </a:t>
            </a:r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 · Indonesia · Saudi Arabia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Head of Marketing / PMM  |  Date: March 2026  |  Status: Active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Board Ready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0" y="182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1143000"/>
            <a:ext cx="2651760" cy="13716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sx="100000" sy="100000" kx="0" ky="0" algn="bl" rotWithShape="0" blurRad="76200" dist="25400" dir="2700000">
              <a:srgbClr val="AAAAA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1280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84632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Pipeline Target (35%)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90672" y="1143000"/>
            <a:ext cx="2651760" cy="13716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sx="100000" sy="100000" kx="0" ky="0" algn="bl" rotWithShape="0" blurRad="76200" dist="25400" dir="2700000">
              <a:srgbClr val="AAAAAA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27832" y="1280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27832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 (all srcs)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031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Target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33872" y="1143000"/>
            <a:ext cx="2651760" cy="13716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sx="100000" sy="100000" kx="0" ky="0" algn="bl" rotWithShape="0" blurRad="76200" dist="25400" dir="2700000">
              <a:srgbClr val="AAAAAA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71032" y="1280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71032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1031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Budget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77072" y="1143000"/>
            <a:ext cx="2651760" cy="13716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sx="100000" sy="100000" kx="0" ky="0" algn="bl" rotWithShape="0" blurRad="76200" dist="25400" dir="2700000">
              <a:srgbClr val="AAAAAA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14232" y="1280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714232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$750K TCV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21031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Opps Needed (mktg-sourced)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697480"/>
            <a:ext cx="11494008" cy="0"/>
          </a:xfrm>
          <a:prstGeom prst="line">
            <a:avLst/>
          </a:prstGeom>
          <a:noFill/>
          <a:ln w="19050">
            <a:solidFill>
              <a:srgbClr val="00B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788920"/>
            <a:ext cx="2011680" cy="2560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788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2743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Digital  ·  40% Events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" y="3200400"/>
            <a:ext cx="2011680" cy="2560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200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INITIATIVES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3566160"/>
            <a:ext cx="3657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56616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35844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&amp; Content Acceleration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7240" y="3803904"/>
            <a:ext cx="11018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blog output · regional landing pages · ANZ keyword rankings → targets $12M TCV (30%)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" y="4133088"/>
            <a:ext cx="3657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13308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415137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 Events &amp; Roundtables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77240" y="4370832"/>
            <a:ext cx="11018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 · QTA · Transport &amp; Logistics Expo · SCLAA → targets $16M TCV (40%)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7472" y="4700016"/>
            <a:ext cx="3657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70001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" y="471830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Performance Fix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7240" y="4937760"/>
            <a:ext cx="11018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domain auth (SPF/DKIM/DMARC) · rewrite sequences · lift open rate 5% → 25%+ by end Q1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47472" y="5266944"/>
            <a:ext cx="3657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526694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" y="52852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ANZ Launch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77240" y="5504688"/>
            <a:ext cx="11018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$22K allocated to high-intent TMS/WMS search · Q1 launch &amp; learn · Q2 optimise → $6M TCV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7472" y="5833872"/>
            <a:ext cx="3657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583387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585216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Programme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77240" y="6071616"/>
            <a:ext cx="11018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VISY Logistics (ANZ) + CKB Logistics (Indonesia) deployed across all channels from Q1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Revenue Targets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TCV · 5-year average contract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0" y="182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5394960" cy="53949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78992"/>
            <a:ext cx="2011680" cy="2560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0789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REGION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 (Australia + NZ)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+ Events + Outbound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075688"/>
            <a:ext cx="5029200" cy="292608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75688"/>
            <a:ext cx="658368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$24M · 60%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&amp; Asia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3832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+ Reference-led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675888"/>
            <a:ext cx="5029200" cy="292608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675888"/>
            <a:ext cx="27432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23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· 25%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9834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+ Kanoo case study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5276088"/>
            <a:ext cx="5029200" cy="292608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276088"/>
            <a:ext cx="16459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623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$6M · 15%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078992"/>
            <a:ext cx="6153912" cy="53949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1078992"/>
            <a:ext cx="2011680" cy="2560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0789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CHANNEL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417320"/>
          <a:ext cx="59893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91440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Opps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/ SEO / Content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 (search + retargeting)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(email + LinkedIn)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Paid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&amp; Roundtables (ANZ)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(SA + Indonesia)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&amp; Referrals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6080760" y="1417320"/>
            <a:ext cx="5989320" cy="38404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08192" y="144475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759952" y="144475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582912" y="1444752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497312" y="1444752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Opps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80760" y="1810512"/>
            <a:ext cx="5989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08192" y="1883664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/ SEO / Content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8759952" y="188366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9601200" y="188366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0515600" y="188366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11338560" y="1901952"/>
            <a:ext cx="658368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338560" y="190195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6080760" y="2194560"/>
            <a:ext cx="5989320" cy="38404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08192" y="2267712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(search + retargeting)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8759952" y="22677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$6M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9601200" y="22677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0515600" y="22677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1338560" y="2286000"/>
            <a:ext cx="658368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1338560" y="228600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6080760" y="2578608"/>
            <a:ext cx="5989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08192" y="265176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(email + LinkedIn)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8759952" y="26517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$4M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9601200" y="26517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10515600" y="26517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11338560" y="2670048"/>
            <a:ext cx="658368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1338560" y="267004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700" dirty="0"/>
          </a:p>
        </p:txBody>
      </p:sp>
      <p:sp>
        <p:nvSpPr>
          <p:cNvPr id="56" name="Shape 53"/>
          <p:cNvSpPr/>
          <p:nvPr/>
        </p:nvSpPr>
        <p:spPr>
          <a:xfrm>
            <a:off x="6080760" y="2962656"/>
            <a:ext cx="5989320" cy="38404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08192" y="303580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Paid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8759952" y="30358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9601200" y="30358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10515600" y="30358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11338560" y="3054096"/>
            <a:ext cx="658368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1338560" y="3054096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6080760" y="3346704"/>
            <a:ext cx="5989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108192" y="3419856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Roundtables (ANZ)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8759952" y="341985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9601200" y="341985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10515600" y="341985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11338560" y="3438144"/>
            <a:ext cx="658368" cy="219456"/>
          </a:xfrm>
          <a:prstGeom prst="rect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1338560" y="343814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6080760" y="3730752"/>
            <a:ext cx="5989320" cy="38404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108192" y="3803904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(SA + Indonesia)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8759952" y="380390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9601200" y="380390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10515600" y="380390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11338560" y="3822192"/>
            <a:ext cx="658368" cy="219456"/>
          </a:xfrm>
          <a:prstGeom prst="rect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1338560" y="382219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6080760" y="4114800"/>
            <a:ext cx="5989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108192" y="4187952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&amp; Referrals</a:t>
            </a:r>
            <a:endParaRPr lang="en-US" sz="850" dirty="0"/>
          </a:p>
        </p:txBody>
      </p:sp>
      <p:sp>
        <p:nvSpPr>
          <p:cNvPr id="79" name="Text 76"/>
          <p:cNvSpPr/>
          <p:nvPr/>
        </p:nvSpPr>
        <p:spPr>
          <a:xfrm>
            <a:off x="8759952" y="418795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9601200" y="418795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10515600" y="418795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11338560" y="4206240"/>
            <a:ext cx="658368" cy="219456"/>
          </a:xfrm>
          <a:prstGeom prst="rect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1338560" y="420624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Performance Review + SWOT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0" y="182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2011680" cy="2560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789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ACTUALS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417320"/>
            <a:ext cx="2606040" cy="12344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sx="100000" sy="100000" kx="0" ky="0" algn="bl" rotWithShape="0" blurRad="76200" dist="25400" dir="2700000">
              <a:srgbClr val="AAAAAA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1554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" y="2057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82112" y="1417320"/>
            <a:ext cx="2606040" cy="12344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sx="100000" sy="100000" kx="0" ky="0" algn="bl" rotWithShape="0" blurRad="76200" dist="25400" dir="2700000">
              <a:srgbClr val="AAAAAA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19272" y="1554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19272" y="2057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240280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16752" y="1417320"/>
            <a:ext cx="260604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2700000">
              <a:srgbClr val="AAAAAA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53912" y="1554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53912" y="2057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240280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51392" y="1417320"/>
            <a:ext cx="2606040" cy="12344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sx="100000" sy="100000" kx="0" ky="0" algn="bl" rotWithShape="0" blurRad="76200" dist="25400" dir="2700000">
              <a:srgbClr val="AAAAAA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88552" y="1554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$6.5M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988552" y="2057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0" y="2240280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Pipeline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2743200"/>
            <a:ext cx="11494008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D484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807208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insight: Win rate = 20% on decided deals. $10M lost — primary reason: price. Value story must precede commercial conversations. Email outbound at 5% open rate (benchmark 25%+) — fixable technical problem.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3429000"/>
            <a:ext cx="2834640" cy="292608"/>
          </a:xfrm>
          <a:prstGeom prst="rect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4290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3776472"/>
            <a:ext cx="2834640" cy="60350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831336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integrated 3PL platform: TMS + WMS + Fleet + Hub + Billing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7472" y="4434840"/>
            <a:ext cx="28346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48970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Referenceable customers: VISY (ANZ) · CKB (Indonesia) · Kanoo (SA)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47472" y="5093208"/>
            <a:ext cx="2834640" cy="60350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51480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Organic search already working in ANZ — compound advantage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7472" y="5751576"/>
            <a:ext cx="28346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806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HubSpot with live source tracking configured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55264" y="3429000"/>
            <a:ext cx="28346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55264" y="34290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55264" y="3776472"/>
            <a:ext cx="2834640" cy="60350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46704" y="3831336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open rate at 5% — SPF/DKIM/DMARC fix required immediately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55264" y="4434840"/>
            <a:ext cx="28346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448970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Bahasa or Arabic content — competitor gap unfilled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55264" y="5093208"/>
            <a:ext cx="2834640" cy="60350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46704" y="51480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VISY case study not yet published — highest-leverage ANZ asset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55264" y="5751576"/>
            <a:ext cx="28346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46704" y="5806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is #1 loss reason — ROI framing missing pre-commercial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63056" y="3429000"/>
            <a:ext cx="28346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34290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63056" y="3776472"/>
            <a:ext cx="2834640" cy="60350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3831336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TMS platform launch (Q2) — a genuine campaign moment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163056" y="4434840"/>
            <a:ext cx="28346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54496" y="448970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 compliance in ANZ — buying trigger competitors not addressing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63056" y="5093208"/>
            <a:ext cx="2834640" cy="60350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54496" y="51480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Vision 2030 in Saudi Arabia — strategic hook for campaigns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63056" y="5751576"/>
            <a:ext cx="28346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54496" y="5806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in logistics — emerging thought leadership angle Q3/Q4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070848" y="3429000"/>
            <a:ext cx="2834640" cy="292608"/>
          </a:xfrm>
          <a:prstGeom prst="rect">
            <a:avLst/>
          </a:prstGeom>
          <a:solidFill>
            <a:srgbClr val="6B4000"/>
          </a:solidFill>
          <a:ln w="12700">
            <a:solidFill>
              <a:srgbClr val="6B4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70848" y="34290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070848" y="3776472"/>
            <a:ext cx="2834640" cy="60350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62288" y="3831336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CargoWise expanding beyond freight forwarding in ANZ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9070848" y="4434840"/>
            <a:ext cx="28346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62288" y="448970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Oracle / SAP increasing SMB / mid-market focus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070848" y="5093208"/>
            <a:ext cx="2834640" cy="60350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62288" y="51480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In-house tech builds by large family-owned 3PLs in Indonesia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070848" y="5751576"/>
            <a:ext cx="28346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62288" y="5806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ZATCA-compliant local vendors undercutting on price in SA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Roadmap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and programme sequencing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0" y="182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283464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155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Jan – Mar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37160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FOUNDATIONS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" y="1664208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2024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17556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email domain auth (SPF/DKIM/DMARC)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2459736"/>
            <a:ext cx="2834640" cy="74980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15768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55117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 → 15%+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255264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11296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334670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Google Ads ANZ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4050792"/>
            <a:ext cx="2834640" cy="74980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06824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41422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VISY case study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4846320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102352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4937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 regional landing pages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5641848"/>
            <a:ext cx="2834640" cy="74980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89788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57332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analytics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91840" y="1097280"/>
            <a:ext cx="2834640" cy="530352"/>
          </a:xfrm>
          <a:prstGeom prst="rect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11155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Apr – Jun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83280" y="137160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SCALE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91840" y="1664208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01568" y="1920240"/>
            <a:ext cx="91440" cy="91440"/>
          </a:xfrm>
          <a:prstGeom prst="ellipse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17556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platform launch campaign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91840" y="2459736"/>
            <a:ext cx="2834640" cy="74980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01568" y="2715768"/>
            <a:ext cx="91440" cy="91440"/>
          </a:xfrm>
          <a:prstGeom prst="ellipse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255117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ANZ roundtable events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91840" y="3255264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01568" y="3511296"/>
            <a:ext cx="91440" cy="91440"/>
          </a:xfrm>
          <a:prstGeom prst="ellipse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47872" y="334670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 live on ramco.com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91840" y="4050792"/>
            <a:ext cx="2834640" cy="74980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01568" y="4306824"/>
            <a:ext cx="91440" cy="91440"/>
          </a:xfrm>
          <a:prstGeom prst="ellipse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47872" y="41422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organic → 4 posts/week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91840" y="4846320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01568" y="5102352"/>
            <a:ext cx="91440" cy="91440"/>
          </a:xfrm>
          <a:prstGeom prst="ellipse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47872" y="4937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optimise &amp; expand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91840" y="5641848"/>
            <a:ext cx="2834640" cy="74980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01568" y="5897880"/>
            <a:ext cx="91440" cy="91440"/>
          </a:xfrm>
          <a:prstGeom prst="ellipse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47872" y="57332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pipeline review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36208" y="1097280"/>
            <a:ext cx="2834640" cy="530352"/>
          </a:xfrm>
          <a:prstGeom prst="rect">
            <a:avLst/>
          </a:prstGeom>
          <a:solidFill>
            <a:srgbClr val="D4841A"/>
          </a:solidFill>
          <a:ln w="12700">
            <a:solidFill>
              <a:srgbClr val="D484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27648" y="11155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Jul – Sep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327648" y="137160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36208" y="1664208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45936" y="1920240"/>
            <a:ext cx="91440" cy="91440"/>
          </a:xfrm>
          <a:prstGeom prst="ellipse">
            <a:avLst/>
          </a:prstGeom>
          <a:solidFill>
            <a:srgbClr val="D4841A"/>
          </a:solidFill>
          <a:ln w="12700">
            <a:solidFill>
              <a:srgbClr val="D484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17556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content + outbound expansion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36208" y="2459736"/>
            <a:ext cx="2834640" cy="74980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45936" y="2715768"/>
            <a:ext cx="91440" cy="91440"/>
          </a:xfrm>
          <a:prstGeom prst="ellipse">
            <a:avLst/>
          </a:prstGeom>
          <a:solidFill>
            <a:srgbClr val="D4841A"/>
          </a:solidFill>
          <a:ln w="12700">
            <a:solidFill>
              <a:srgbClr val="D484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255117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CKB Logistics case study activation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36208" y="3255264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45936" y="3511296"/>
            <a:ext cx="91440" cy="91440"/>
          </a:xfrm>
          <a:prstGeom prst="ellipse">
            <a:avLst/>
          </a:prstGeom>
          <a:solidFill>
            <a:srgbClr val="D4841A"/>
          </a:solidFill>
          <a:ln w="12700">
            <a:solidFill>
              <a:srgbClr val="D484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334670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light-touch campaigns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36208" y="4050792"/>
            <a:ext cx="2834640" cy="74980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5936" y="4306824"/>
            <a:ext cx="91440" cy="91440"/>
          </a:xfrm>
          <a:prstGeom prst="ellipse">
            <a:avLst/>
          </a:prstGeom>
          <a:solidFill>
            <a:srgbClr val="D4841A"/>
          </a:solidFill>
          <a:ln w="12700">
            <a:solidFill>
              <a:srgbClr val="D4841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0" y="41422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 market assessment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36208" y="4846320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45936" y="5102352"/>
            <a:ext cx="91440" cy="91440"/>
          </a:xfrm>
          <a:prstGeom prst="ellipse">
            <a:avLst/>
          </a:prstGeom>
          <a:solidFill>
            <a:srgbClr val="D4841A"/>
          </a:solidFill>
          <a:ln w="12700">
            <a:solidFill>
              <a:srgbClr val="D4841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92240" y="4937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logistics thought leadership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36208" y="5641848"/>
            <a:ext cx="2834640" cy="74980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45936" y="5897880"/>
            <a:ext cx="91440" cy="91440"/>
          </a:xfrm>
          <a:prstGeom prst="ellipse">
            <a:avLst/>
          </a:prstGeom>
          <a:solidFill>
            <a:srgbClr val="D4841A"/>
          </a:solidFill>
          <a:ln w="12700">
            <a:solidFill>
              <a:srgbClr val="D4841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92240" y="57332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followers mid-year audit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180576" y="1097280"/>
            <a:ext cx="2834640" cy="5303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272016" y="11155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Oct – Dec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9272016" y="137160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PLAN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9180576" y="1664208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290304" y="1920240"/>
            <a:ext cx="91440" cy="914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436608" y="17556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demo push (direct + retargeting)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180576" y="2459736"/>
            <a:ext cx="2834640" cy="74980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290304" y="2715768"/>
            <a:ext cx="91440" cy="914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436608" y="255117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audit + refresh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180576" y="3255264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90304" y="3511296"/>
            <a:ext cx="91440" cy="914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436608" y="334670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pipeline close support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180576" y="4050792"/>
            <a:ext cx="2834640" cy="74980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290304" y="4306824"/>
            <a:ext cx="91440" cy="914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436608" y="41422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annual plan draft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9180576" y="4846320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290304" y="5102352"/>
            <a:ext cx="91440" cy="914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436608" y="4937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debrief + 2027 calendar lock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9180576" y="5641848"/>
            <a:ext cx="2834640" cy="749808"/>
          </a:xfrm>
          <a:prstGeom prst="rect">
            <a:avLst/>
          </a:prstGeom>
          <a:solidFill>
            <a:srgbClr val="EEF3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290304" y="5897880"/>
            <a:ext cx="91440" cy="914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436608" y="57332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analysis — price objections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347472" y="6492240"/>
            <a:ext cx="11494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19 marketing-sourced qualified opportunities across the year  ·  Win rate target: 20% → 25% by Q4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$110,000 USD · Every dollar tied to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0" y="182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10515600" cy="34747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143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Category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78224" y="1143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49824" y="1143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21424" y="1143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93024" y="1143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564624" y="1143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1444752"/>
            <a:ext cx="10515600" cy="402336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" y="160020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152704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— ANZ Search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78224" y="152704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$5,500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49824" y="152704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$5,500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21424" y="152704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193024" y="152704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564624" y="152704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$18,000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1847088"/>
            <a:ext cx="10515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" y="2002536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" y="19293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— Retargeting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78224" y="192938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49824" y="192938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21424" y="192938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193024" y="192938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564624" y="192938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2249424"/>
            <a:ext cx="10515600" cy="402336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" y="2404872"/>
            <a:ext cx="91440" cy="91440"/>
          </a:xfrm>
          <a:prstGeom prst="ellipse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" y="23317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Paid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78224" y="2331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49824" y="2331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21424" y="2331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193024" y="2331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564624" y="2331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47472" y="2651760"/>
            <a:ext cx="10515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" y="2807208"/>
            <a:ext cx="91440" cy="91440"/>
          </a:xfrm>
          <a:prstGeom prst="ellipse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" y="27340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— ANZ (VTA, QTA, T&amp;L, SCLAA)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078224" y="273405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49824" y="273405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21424" y="273405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193024" y="273405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564624" y="273405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47472" y="3054096"/>
            <a:ext cx="10515600" cy="402336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0624" y="3209544"/>
            <a:ext cx="91440" cy="91440"/>
          </a:xfrm>
          <a:prstGeom prst="ellipse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" y="31363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— Saudi Arabia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078224" y="313639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49824" y="313639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21424" y="313639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193024" y="313639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564624" y="313639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$11,000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47472" y="3456432"/>
            <a:ext cx="10515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0624" y="3611880"/>
            <a:ext cx="91440" cy="91440"/>
          </a:xfrm>
          <a:prstGeom prst="ellipse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784" y="35387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— Indonesia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078224" y="353872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449824" y="353872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821424" y="353872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193024" y="353872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564624" y="353872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47472" y="3858768"/>
            <a:ext cx="10515600" cy="402336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0624" y="4014216"/>
            <a:ext cx="91440" cy="91440"/>
          </a:xfrm>
          <a:prstGeom prst="ellipse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7784" y="394106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Production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078224" y="39410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449824" y="39410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821424" y="39410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193024" y="39410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564624" y="39410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$12,500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47472" y="4261104"/>
            <a:ext cx="10515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0624" y="4416552"/>
            <a:ext cx="91440" cy="91440"/>
          </a:xfrm>
          <a:prstGeom prst="ellipse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7784" y="43434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 (HubSpot etc.)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078224" y="434340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449824" y="434340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821424" y="434340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193024" y="434340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9564624" y="434340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47472" y="4663440"/>
            <a:ext cx="10515600" cy="402336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20624" y="4818888"/>
            <a:ext cx="91440" cy="91440"/>
          </a:xfrm>
          <a:prstGeom prst="ellipse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7784" y="474573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Creative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078224" y="474573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449824" y="474573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821424" y="474573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8193024" y="474573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9564624" y="474573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$7,000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47472" y="5065776"/>
            <a:ext cx="10515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20624" y="5221224"/>
            <a:ext cx="91440" cy="91440"/>
          </a:xfrm>
          <a:prstGeom prst="ellipse">
            <a:avLst/>
          </a:prstGeom>
          <a:solidFill>
            <a:srgbClr val="D4841A"/>
          </a:solidFill>
          <a:ln w="12700">
            <a:solidFill>
              <a:srgbClr val="D4841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57784" y="514807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078224" y="514807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449824" y="514807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821424" y="514807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8193024" y="514807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564624" y="514807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47472" y="5468112"/>
            <a:ext cx="10515600" cy="38404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0624" y="5541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078224" y="55412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$30,500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5449824" y="55412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$34,000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6821424" y="55412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$29,500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193024" y="55412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$20,500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9564624" y="55412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$114,500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347472" y="597103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agency retainers · No broad awareness spend · No large sponsorships — every line item justified by expected pipeline.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Visibility KPIs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quarterly in HubSpot + GA4 + LinkedIn Analytics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0" y="182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1143000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2700000">
              <a:srgbClr val="BBBBBB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143000"/>
            <a:ext cx="278892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344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Sessions/mo (ANZ)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18928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84632" y="20574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Q1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24231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TARGET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4632" y="26243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by Q4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" y="31546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55264" y="1143000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2700000">
              <a:srgbClr val="BBBBBB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55264" y="1143000"/>
            <a:ext cx="2788920" cy="16459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92424" y="1344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Followers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92424" y="18928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392424" y="20574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Q1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92424" y="24231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TARGET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392424" y="26243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YoY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92424" y="31546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63056" y="1143000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2700000">
              <a:srgbClr val="BBBBBB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1143000"/>
            <a:ext cx="2788920" cy="16459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1344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 Impressions/mo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0216" y="18928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300216" y="20574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Q1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0216" y="24231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TARGET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00216" y="26243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+100% YoY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0216" y="31546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070848" y="1143000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2700000">
              <a:srgbClr val="BBBBBB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70848" y="1143000"/>
            <a:ext cx="2788920" cy="164592"/>
          </a:xfrm>
          <a:prstGeom prst="rect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08008" y="1344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Attended / Sponsored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08008" y="18928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208008" y="20574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in 2025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208008" y="24231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B7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TARGET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208008" y="26243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 2026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08008" y="31546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47472" y="3611880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2700000">
              <a:srgbClr val="BBBBBB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7472" y="3611880"/>
            <a:ext cx="2788920" cy="164592"/>
          </a:xfrm>
          <a:prstGeom prst="rect">
            <a:avLst/>
          </a:prstGeom>
          <a:solidFill>
            <a:srgbClr val="1B7B4E"/>
          </a:solidFill>
          <a:ln w="12700">
            <a:solidFill>
              <a:srgbClr val="1B7B4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" y="38130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Slots (ANZ focus)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" y="4361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4632" y="4526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" y="48920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B7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TARGET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84632" y="5093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minimum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4632" y="562356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55264" y="3611880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2700000">
              <a:srgbClr val="BBBBBB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55264" y="3611880"/>
            <a:ext cx="2788920" cy="16459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92424" y="38130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Mentions (AU press)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392424" y="4361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392424" y="4526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392424" y="48920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TARGET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392424" y="5093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 year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392424" y="562356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Alerts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163056" y="3611880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2700000">
              <a:srgbClr val="BBBBBB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63056" y="3611880"/>
            <a:ext cx="278892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0216" y="38130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00216" y="4361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300216" y="4526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(critical)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00216" y="48920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TARGET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300216" y="5093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25%+ by Q2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300216" y="562356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070848" y="3611880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2700000">
              <a:srgbClr val="BBBBBB">
                <a:alpha val="2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9070848" y="3611880"/>
            <a:ext cx="2788920" cy="164592"/>
          </a:xfrm>
          <a:prstGeom prst="rect">
            <a:avLst/>
          </a:prstGeom>
          <a:solidFill>
            <a:srgbClr val="D4841A"/>
          </a:solidFill>
          <a:ln w="12700">
            <a:solidFill>
              <a:srgbClr val="D4841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08008" y="38130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(decided deals)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9208008" y="4361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9208008" y="4526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208008" y="48920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TARGET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9208008" y="5093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by Q4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9208008" y="562356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4754880"/>
            <a:ext cx="11887200" cy="210312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PLAN — APPROVAL CHECKLIST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needed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 the clock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411480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871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$110K budget and quarterly release schedule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411480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27248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2369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VISY case study — approve draft by end of March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411480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77056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9867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Google Ads ANZ brief to go live Q1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ramco.com/products/logistics-software/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Head of Marketing / PMM  |  Tracking: HubSpot  |  Next review: End of Q1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2026-04-06T06:33:04Z</dcterms:created>
  <dcterms:modified xsi:type="dcterms:W3CDTF">2026-04-06T06:33:04Z</dcterms:modified>
</cp:coreProperties>
</file>